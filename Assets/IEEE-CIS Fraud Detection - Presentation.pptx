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83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Ingestion, Cleaning &amp;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Real-Time Financial Fraud Detection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Project 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merged transaction (590,540 rows, 394 features) and identity (144,233 rows, 41 features) datasets on TransactionID.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331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solved massive column sparsity, temporal sequencing, and high-cardinality identity structures.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09160" y="32004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establish a leak-free data processing baseline for production, real-time prediction.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420624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1" name="Image 0" descr="/home/claude/fraud_deck/assets/part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909" y="4370832"/>
            <a:ext cx="3891942" cy="1728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73752" y="6245352"/>
            <a:ext cx="6620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 96.5% legitimate vs 3.5% fraudulent across 590,540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Extreme Class Imbalance (3.51% Target Rate)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Reality: out of 590,540 transactions, only 20,663 are fraudulent — a 3.51% positive class rate.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Trap: a naive model predicting all-legitimate reaches 96.5% accuracy while catching 0% of fraud.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Shift: modeling and evaluation moved from Accuracy to PR-AUC (Precision-Recall Area Under Curve) and ROC-AUC.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074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5184648"/>
            <a:ext cx="245973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5815584"/>
            <a:ext cx="242316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of total volume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50749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5184648"/>
            <a:ext cx="245973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20,663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5815584"/>
            <a:ext cx="242316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cases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3" name="Image 0" descr="/home/claude/fraud_deck/assets/part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865621"/>
            <a:ext cx="5111496" cy="22697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vs. fraudulent transaction volume, log-scale count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Feature Sparsity &amp; Systematic Pruning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Identification: over 74 features contained missing values exceeding 85% of all records.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Drop (&gt;95% missing): pruned 9 ultra-sparse identity features (e.g., id_24, id_25 — both &gt;99% missing).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Drop (85%–95% missing): pruned 65 redundant Vesta (V138–V166) and D-series features, reducing the dataset from 425 to 360 features.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Preservation: retained moderate missing values for LightGBM's native branch handling.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734024"/>
            <a:ext cx="5111496" cy="2532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dropped features ranked against the 85% missing-value threshold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Profiling Across Product &amp; Payment Attributes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ProductCD Disparity: product code 'C' shows an 11.68% fraud rate versus 'W' at just 1.98%, despite 'W' carrying 74% of total volume.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 Risk: credit card transactions (card6) show a 6.60% fraud rate — nearly 3x the 2.42% rate for debit cards.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Strategy: applied one-hot encoding (drop_first) to low-cardinality features and frequency encoding to email domains.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965960"/>
            <a:ext cx="5715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productcd_fraud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733" y="2130552"/>
            <a:ext cx="3794175" cy="1865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3912" y="414223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ProductCD: transaction volume vs. fraud rate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4572000"/>
            <a:ext cx="5715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0" name="Image 1" descr="/home/claude/fraud_deck/assets/part1_card_type_fra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082" y="4736592"/>
            <a:ext cx="2045476" cy="11338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53912" y="601675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card6: fraud rate by payment instrument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Amount Behavior &amp; Log Distributions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6" name="Image 0" descr="/home/claude/fraud_deck/assets/part1_transaction_am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7474" y="2130552"/>
            <a:ext cx="4626571" cy="2276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4553712"/>
            <a:ext cx="10917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transaction amounts: legitimate (mean $135) vs. fraudulent (mean $149)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fraudulent amount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2511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34340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legitimate amount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50749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19872" y="5184648"/>
            <a:ext cx="3465576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$31,937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138160" y="5815584"/>
            <a:ext cx="3429000" cy="444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transaction amount observed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4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 ENGINEERING &amp;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 Engineering: The UID Aggregation Trick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Construction: combined card1 + addr1 + D1 to construct 192,316 unique pseudo-customer accounts.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Features: engineered card1_amt_mean, uid_amt_mean, and transaction-to-mean amount ratios.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Features: added UID2 (card1+card2+addr1+P_emaildomain) and time_since_last_uid_txn.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Impact: ratios exceeding 5x the customer average provided top-tier discriminative power for tree classifiers.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1_uid_aggreg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742131"/>
            <a:ext cx="5111496" cy="2516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Transaction-to-mean UID spending ratio — fraud spikes beyond 5x normal spend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Modeling &amp;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Benchmark Progression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Progression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Logistic Regression with standard scaling reached PR-AUC 0.2261 / ROC-AUC 0.8351.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331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Architecture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LightGBM selected for native missing-value handling, speed, and gradient-boosting efficiency.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09160" y="32004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▪"/>
            </a:pPr>
            <a:r>
              <a:rPr lang="en-US" sz="14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Jump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default LightGBM achieved PR-AUC 0.5472, more than double the baseline.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420624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1" name="Image 0" descr="/home/claude/fraud_deck/assets/part2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469" y="4370832"/>
            <a:ext cx="3504822" cy="1728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73752" y="6245352"/>
            <a:ext cx="6620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and ROC-AUC across baseline and tuned LightGBM variants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TimeSeriesSplit Cross-Validation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Splitting: 80/20 time-based split (first 472k rows train, last 118k validation) mimics real-world deployment.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Evaluation: full-dataset 5-fold TimeSeriesSplit cross-validation confirms generalization.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Results: stable, non-overfitting performance — PR-AUC = 0.5708 ± 0.019, ROC-AUC = 0.9100 ± 0.014.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Tuning: optimal early-stopping determined at ~480 boosting rounds.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89320" y="1965960"/>
            <a:ext cx="57150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2_precision_recall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2808948"/>
            <a:ext cx="5385816" cy="2383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53912" y="6016752"/>
            <a:ext cx="5385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0.925) and Precision-Recall curve with optimal threshold marked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Interpretability (Total Gain)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Vesta Drivers: V258 (gain 861.8k) and V294 (gain 456.1k) emerged as the single most powerful fraud indicators.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Time Signals: C14 (gain 425.2k) and TransactionDT (gain 261.4k) capture frequency and time patterns.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Validation: card1_amt_mean (#4) and uid2_amt_mean (#8) ranked in the top 10 — proof the engineered aggregations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7" name="Image 0" descr="/home/claude/fraud_deck/assets/part2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597014"/>
            <a:ext cx="5111496" cy="28069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features ranked by total gradient gain, final LightGBM 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E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MODELING &amp; 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(Max F1 @ 0.77) &amp; Operational Tradeoffs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Selection: decision boundaries evaluated from 0.0 to 1.0; 0.77 identified as the optimal Max-F1 operating point.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66.8% precision and 47.8% recall at that threshold (F1 = 0.556).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high precision protects operations from costly false-alarm investigations.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9384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47672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55264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1,944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46704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4296" y="48920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7448" y="5001768"/>
            <a:ext cx="1133856" cy="7168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5736" y="5660136"/>
            <a:ext cx="109728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pic>
        <p:nvPicPr>
          <p:cNvPr id="19" name="Image 0" descr="/home/claude/fraud_deck/assets/part2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900" y="2130552"/>
            <a:ext cx="5030160" cy="3739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28232" y="6016752"/>
            <a:ext cx="5111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holdout fold at decision threshold 0.77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Deployment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&amp; System Dataflow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685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173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Pipeline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raw input flows through preprocessing &amp; feature alignment, the LightGBM model, a FastAPI REST layer, and the Streamlit portal.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216712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LightGBM booster exported via Joblib (models/fraud_model.pkl).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2916936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lightweight Python backend processes real-time predictions in under 50ms.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3803904"/>
            <a:ext cx="6949440" cy="2551176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95020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Dataflow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083B8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02352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IEEE-CIS Data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+ Identity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17664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083B8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90816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8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dropped · 13 engineered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06128" y="4334256"/>
            <a:ext cx="193243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79280" y="4334256"/>
            <a:ext cx="1786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Booster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 features · thresh 0.77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61632" y="4681728"/>
            <a:ext cx="256032" cy="18288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0096" y="4681728"/>
            <a:ext cx="256032" cy="18288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15507" y="5513832"/>
            <a:ext cx="24743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88659" y="5513832"/>
            <a:ext cx="232806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endpoint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64194" y="5513832"/>
            <a:ext cx="247436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37346" y="5513832"/>
            <a:ext cx="232806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Portal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expander sections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 flipH="1">
            <a:off x="7352690" y="5047488"/>
            <a:ext cx="3019654" cy="466344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10101377" y="5047488"/>
            <a:ext cx="270967" cy="466344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REAL-TIME DEPLOYMENT &amp; PRODUCT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Production Portal &amp; 15-Section Feature Input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379-Feature Support: complete alignment with the model's feature signature, divided into 15 collapsible expander sections.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Expander Categorization: Transaction Core, Card Info, ProductCD, Email Domains, C/D/M/V series, Identity, and Engineered UIDs.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 Pre-fills: every slider pre-filled with representative baseline values for instant one-click analysis.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UI: adaptive styling for light/dark modes with immediate fraud-score feedback metrics.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9659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2148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Deployment &amp; Product Stack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51760"/>
          <a:ext cx="4983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/ Pydantic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/predict endpoint, float vector typing, &lt;50ms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collapsible feature sections, sliders, default fallback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 Serialization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Serialized LightGBM booster with probability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Host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cloud deployment accessible via web URL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92240" y="59893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stack: components and key UI functionality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5F1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REAL-TIME DEPLOYMENT &amp; PRODUCT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Integration, Live Demo &amp; Project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Endpoint: FastAPI /predict POST endpoint accepts Pydantic-typed float arrays and returns a fraud decision plus score.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Endpoint: GET / endpoint enables automated container health monitoring.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Demo: deployed on Streamlit Cloud (ntigraduationproject.streamlit.app).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8646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23036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end-to-end, leak-free, high-precision fraud detection engine — ready for production integration.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9659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0.5708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PR-AUC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292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9607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1436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ROC-AUC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82200" y="242316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5352" y="253288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73640" y="332841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latency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3679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served by the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292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9607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21436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0.77 threshold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82200" y="4069080"/>
            <a:ext cx="1722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A1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5352" y="4178808"/>
            <a:ext cx="1575816" cy="8449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47.8%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073640" y="4974336"/>
            <a:ext cx="1539240" cy="543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0.77 threshold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IEEE-CIS Real-Time Financial Fraud Detection System</dc:title>
  <dc:subject>PptxGenJS Presentation</dc:subject>
  <dc:creator>IEEE-CIS Fraud Detection Project</dc:creator>
  <cp:lastModifiedBy>IEEE-CIS Fraud Detection Project</cp:lastModifiedBy>
  <cp:revision>1</cp:revision>
  <dcterms:created xsi:type="dcterms:W3CDTF">2026-07-23T10:15:52Z</dcterms:created>
  <dcterms:modified xsi:type="dcterms:W3CDTF">2026-07-23T10:15:52Z</dcterms:modified>
</cp:coreProperties>
</file>